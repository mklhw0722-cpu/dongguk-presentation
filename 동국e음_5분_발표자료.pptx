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109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2C6F2-58C2-9B19-AEB8-AE3D9F677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387FDC-774A-4A2A-BCBC-90838CF2E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F1E525-3A1F-E18F-DD11-B56EE3770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A606-1DDE-4573-833D-39B3274B5D52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0C188C-5BC8-AF41-1A71-BB2A16938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96CAB6-C75E-BA59-1704-0A5B8CA5A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7AB0-8296-4A9D-9C2C-CDD4A1D1D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580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629C8-4AF3-3080-8443-127472F0E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8E58CA-4774-AE60-94B7-4A8C5898A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351EB1-3743-D474-84E2-F5FBF865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A606-1DDE-4573-833D-39B3274B5D52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ACF7EE-EE62-F3F3-8E86-2E38A6030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8A5225-BEA1-A3A2-07C1-7455A323D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7AB0-8296-4A9D-9C2C-CDD4A1D1D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153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4C6049-DD84-E3DF-0611-8CBE1FB84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4D1B17-1D08-412A-A0BA-FDDD06533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4EF03-31DA-E358-96D5-5607693DC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A606-1DDE-4573-833D-39B3274B5D52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DD47C3-4066-1DD9-6B00-92069213A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2FBE51-9DF8-9110-B746-D0FCCC37A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7AB0-8296-4A9D-9C2C-CDD4A1D1D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467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BF323-F7A7-F82C-058E-EA0F625E5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214718-84BC-8F0C-7538-CC13452CFD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04DB9F-416E-19A0-0880-059D3731E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78F971-7B73-E28F-F0F1-060210CC9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A606-1DDE-4573-833D-39B3274B5D52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6FEC21-63FD-44FC-8684-C68F09DF8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C3D21-EB29-9FAA-F52D-4F30D70DA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7AB0-8296-4A9D-9C2C-CDD4A1D1D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670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03A38B-DEAE-8E8A-27E5-97BC82C90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C485A-05B9-A271-6691-D25EE646C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852F6D-2199-E243-B4E4-44B215282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B1AC30-D5AD-03F0-D3C6-39B9F4B70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5FB317-7D22-0B5A-74A6-76BAC9CE5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C249A3-F9B8-CB36-BE7C-C6185DB3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A606-1DDE-4573-833D-39B3274B5D52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CCE124-BA4D-BFBB-503F-F761FFE1C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72A441-B541-86AA-A6E3-B10C3B94E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7AB0-8296-4A9D-9C2C-CDD4A1D1D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372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FC85B-4988-C54A-4304-28BEC0918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3DA5C35-089B-5430-4A91-DDC566DA7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A606-1DDE-4573-833D-39B3274B5D52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F662BA-5801-89B5-1C27-566660D68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025044-B266-C961-4B37-779A6F82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7AB0-8296-4A9D-9C2C-CDD4A1D1D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818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D390C05-C1F5-6F5E-3CB5-36F45697D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A606-1DDE-4573-833D-39B3274B5D52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9D1D6E-384E-35B0-E8DA-AF27595DA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766600-6AE0-F566-DD0E-C127CE91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7AB0-8296-4A9D-9C2C-CDD4A1D1D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350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143B9E-D48C-67C1-7918-10383C2C5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8498A3-5D4C-07B3-ADDA-7C708EDE0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AFCB7A-5534-33F8-6AC0-BE11EF29F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C40304-1777-3C59-9AD3-1376F8BA8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A606-1DDE-4573-833D-39B3274B5D52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BAA939-BC62-73F6-2FD6-845D3A07D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39D1F0-F5A0-F69C-E281-24E38FC4B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7AB0-8296-4A9D-9C2C-CDD4A1D1D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677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8066E-7E06-6BDB-8230-ACF820ED0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FA6813-72F8-93CC-49DA-5DBC4DB4F47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187F43-3E84-EA45-1781-0B6ABF314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4B91EF-4ECC-79B2-69B4-0B8ECE5C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A606-1DDE-4573-833D-39B3274B5D52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05D217-235D-D4BD-A89B-19CC9C3EC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C0CBF3-67A0-C0F2-C302-AD067A6EA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7AB0-8296-4A9D-9C2C-CDD4A1D1D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077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57282-83DF-B40D-EE78-7AC161744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E67A27-FBE1-85D8-43F7-40C5E6EFB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927BFE-9624-3837-D8A7-BDCA8FC99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A606-1DDE-4573-833D-39B3274B5D52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107140-42D8-74CA-AD57-11759591C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D2A0E8-AD12-F329-66B1-2CE94FE6C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7AB0-8296-4A9D-9C2C-CDD4A1D1D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259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B8E0B93-B2C5-2343-E67C-7F288E9741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1DE0B8-B1C7-CC40-2D02-83CAA8824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7C1BF2-2089-43F4-C5AA-77CCA093F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A606-1DDE-4573-833D-39B3274B5D52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5CADDD-833B-94CF-AA84-975C55A97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8FD119-585A-940D-C870-14951482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7AB0-8296-4A9D-9C2C-CDD4A1D1D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771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9E5ECA-390E-FC6B-0BD6-524D3D84F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5CCD3A-AA40-E7DA-605A-CEFE81662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10311D-83D8-0771-B918-77C1EF874B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90A606-1DDE-4573-833D-39B3274B5D52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E1A644-DE18-F278-662D-AA0A614BF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123AEB-7AF2-DDE3-6125-F000E470F4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37AB0-8296-4A9D-9C2C-CDD4A1D1D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558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71C4F02-665C-B207-334F-1D33E1AD8ED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6B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133DB6F-6914-6FBF-32D7-0781D6949F31}"/>
              </a:ext>
            </a:extLst>
          </p:cNvPr>
          <p:cNvSpPr/>
          <p:nvPr/>
        </p:nvSpPr>
        <p:spPr>
          <a:xfrm>
            <a:off x="4318000" y="635000"/>
            <a:ext cx="3556000" cy="381000"/>
          </a:xfrm>
          <a:prstGeom prst="roundRect">
            <a:avLst/>
          </a:prstGeom>
          <a:solidFill>
            <a:srgbClr val="2D190F"/>
          </a:solidFill>
          <a:ln w="1524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동국대학교 교육학과 프로젝트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769A62-BEC5-7444-CA15-7C468AC8F050}"/>
              </a:ext>
            </a:extLst>
          </p:cNvPr>
          <p:cNvSpPr txBox="1"/>
          <p:nvPr/>
        </p:nvSpPr>
        <p:spPr>
          <a:xfrm>
            <a:off x="1270000" y="1206500"/>
            <a:ext cx="9652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ko-KR" altLang="en-US" sz="5800" b="1">
                <a:solidFill>
                  <a:srgbClr val="FF6B00"/>
                </a:solidFill>
                <a:latin typeface="Malgun Gothic" panose="020B0503020000020004" pitchFamily="50" charset="-127"/>
              </a:rPr>
              <a:t>동국</a:t>
            </a:r>
            <a:r>
              <a:rPr lang="en-US" altLang="ko-KR" sz="5800" b="1">
                <a:solidFill>
                  <a:srgbClr val="FF6B00"/>
                </a:solidFill>
                <a:latin typeface="Malgun Gothic" panose="020B0503020000020004" pitchFamily="50" charset="-127"/>
              </a:rPr>
              <a:t>e</a:t>
            </a:r>
            <a:r>
              <a:rPr lang="ko-KR" altLang="en-US" sz="5800" b="1">
                <a:solidFill>
                  <a:srgbClr val="FF6B00"/>
                </a:solidFill>
                <a:latin typeface="Malgun Gothic" panose="020B0503020000020004" pitchFamily="50" charset="-127"/>
              </a:rPr>
              <a:t>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BE519-53C7-AF5F-73B9-52713CC74CB0}"/>
              </a:ext>
            </a:extLst>
          </p:cNvPr>
          <p:cNvSpPr txBox="1"/>
          <p:nvPr/>
        </p:nvSpPr>
        <p:spPr>
          <a:xfrm>
            <a:off x="1270000" y="2349500"/>
            <a:ext cx="9652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ko-KR" altLang="en-US" sz="1700">
                <a:solidFill>
                  <a:srgbClr val="FFFFFF"/>
                </a:solidFill>
                <a:latin typeface="Malgun Gothic" panose="020B0503020000020004" pitchFamily="50" charset="-127"/>
              </a:rPr>
              <a:t>교육학과 구성원을 하나로 잇는 소통</a:t>
            </a:r>
            <a:r>
              <a:rPr lang="en-US" altLang="ko-KR" sz="1700">
                <a:solidFill>
                  <a:srgbClr val="FFFFFF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700">
                <a:solidFill>
                  <a:srgbClr val="FFFFFF"/>
                </a:solidFill>
                <a:latin typeface="Malgun Gothic" panose="020B0503020000020004" pitchFamily="50" charset="-127"/>
              </a:rPr>
              <a:t>지식 네트워크
정보의 통합 </a:t>
            </a:r>
            <a:r>
              <a:rPr lang="en-US" altLang="ko-KR" sz="1700">
                <a:solidFill>
                  <a:srgbClr val="FFFFFF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700">
                <a:solidFill>
                  <a:srgbClr val="FFFFFF"/>
                </a:solidFill>
                <a:latin typeface="Malgun Gothic" panose="020B0503020000020004" pitchFamily="50" charset="-127"/>
              </a:rPr>
              <a:t>경험의 공유 </a:t>
            </a:r>
            <a:r>
              <a:rPr lang="en-US" altLang="ko-KR" sz="1700">
                <a:solidFill>
                  <a:srgbClr val="FFFFFF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700">
                <a:solidFill>
                  <a:srgbClr val="FFFFFF"/>
                </a:solidFill>
                <a:latin typeface="Malgun Gothic" panose="020B0503020000020004" pitchFamily="50" charset="-127"/>
              </a:rPr>
              <a:t>구성원 간 연결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A73890A-4FFA-AA55-B6BA-986B5912339E}"/>
              </a:ext>
            </a:extLst>
          </p:cNvPr>
          <p:cNvSpPr/>
          <p:nvPr/>
        </p:nvSpPr>
        <p:spPr>
          <a:xfrm>
            <a:off x="635000" y="3492500"/>
            <a:ext cx="2616200" cy="27305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4A3B6A-0822-5D25-14B0-49F78B176C06}"/>
              </a:ext>
            </a:extLst>
          </p:cNvPr>
          <p:cNvSpPr txBox="1"/>
          <p:nvPr/>
        </p:nvSpPr>
        <p:spPr>
          <a:xfrm>
            <a:off x="787400" y="3619500"/>
            <a:ext cx="2311400" cy="12772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01 · WHY
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왜 필요한가</a:t>
            </a:r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?
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정보 분산 </a:t>
            </a:r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격차 </a:t>
            </a:r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단절 진단
⏱ 약 </a:t>
            </a:r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분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358E7B2-1F80-E7EC-C4CC-E3980A25D241}"/>
              </a:ext>
            </a:extLst>
          </p:cNvPr>
          <p:cNvSpPr/>
          <p:nvPr/>
        </p:nvSpPr>
        <p:spPr>
          <a:xfrm>
            <a:off x="3403600" y="3492500"/>
            <a:ext cx="2616200" cy="27305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283A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94397E-C142-3BC7-22EB-6AC1FCAD2BCC}"/>
              </a:ext>
            </a:extLst>
          </p:cNvPr>
          <p:cNvSpPr txBox="1"/>
          <p:nvPr/>
        </p:nvSpPr>
        <p:spPr>
          <a:xfrm>
            <a:off x="3556000" y="3619500"/>
            <a:ext cx="2311400" cy="12772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02 · HOW
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어떻게 만들었나</a:t>
            </a:r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?
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기술 스택 </a:t>
            </a:r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구현 </a:t>
            </a:r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5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대 기능
⏱ 약 </a:t>
            </a:r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2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분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711AC33-A061-C458-E5BF-BD809BE15B46}"/>
              </a:ext>
            </a:extLst>
          </p:cNvPr>
          <p:cNvSpPr/>
          <p:nvPr/>
        </p:nvSpPr>
        <p:spPr>
          <a:xfrm>
            <a:off x="6172200" y="3492500"/>
            <a:ext cx="2616200" cy="27305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283A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16FC8C-8D1F-A3C1-D318-79D1992A0225}"/>
              </a:ext>
            </a:extLst>
          </p:cNvPr>
          <p:cNvSpPr txBox="1"/>
          <p:nvPr/>
        </p:nvSpPr>
        <p:spPr>
          <a:xfrm>
            <a:off x="6324600" y="3619500"/>
            <a:ext cx="2311400" cy="12772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03 · CHALLENGES
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무엇을 해결하나</a:t>
            </a:r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?
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인증 </a:t>
            </a:r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참여 </a:t>
            </a:r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채팅 </a:t>
            </a:r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정확성
⏱ 약 </a:t>
            </a:r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분 </a:t>
            </a:r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40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초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13CE6BC-B3A5-A2EB-78B2-8F1844B0399D}"/>
              </a:ext>
            </a:extLst>
          </p:cNvPr>
          <p:cNvSpPr/>
          <p:nvPr/>
        </p:nvSpPr>
        <p:spPr>
          <a:xfrm>
            <a:off x="8940800" y="3492500"/>
            <a:ext cx="2616200" cy="27305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283A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764AE7-505A-70C4-0FD2-7BEDCECD767A}"/>
              </a:ext>
            </a:extLst>
          </p:cNvPr>
          <p:cNvSpPr txBox="1"/>
          <p:nvPr/>
        </p:nvSpPr>
        <p:spPr>
          <a:xfrm>
            <a:off x="9093200" y="3619500"/>
            <a:ext cx="2311400" cy="12772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04 · VISION
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어디로 향하는가</a:t>
            </a:r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?
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선배의 경험이 후배의 자산
⏱ 약 </a:t>
            </a:r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20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초</a:t>
            </a:r>
          </a:p>
        </p:txBody>
      </p:sp>
    </p:spTree>
    <p:extLst>
      <p:ext uri="{BB962C8B-B14F-4D97-AF65-F5344CB8AC3E}">
        <p14:creationId xmlns:p14="http://schemas.microsoft.com/office/powerpoint/2010/main" val="199152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91303E1-D175-17A6-94D9-B30022EC2381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6B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D682234-79AA-1333-1561-65183922285F}"/>
              </a:ext>
            </a:extLst>
          </p:cNvPr>
          <p:cNvSpPr/>
          <p:nvPr/>
        </p:nvSpPr>
        <p:spPr>
          <a:xfrm>
            <a:off x="635000" y="279400"/>
            <a:ext cx="3556000" cy="330200"/>
          </a:xfrm>
          <a:prstGeom prst="roundRect">
            <a:avLst/>
          </a:prstGeom>
          <a:solidFill>
            <a:srgbClr val="2D190F"/>
          </a:solidFill>
          <a:ln w="1524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01 · WHY — 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프로젝트 필요성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0DE68-8B40-43B9-196E-E67D9EB54908}"/>
              </a:ext>
            </a:extLst>
          </p:cNvPr>
          <p:cNvSpPr txBox="1"/>
          <p:nvPr/>
        </p:nvSpPr>
        <p:spPr>
          <a:xfrm>
            <a:off x="584200" y="660400"/>
            <a:ext cx="10922000" cy="400110"/>
          </a:xfrm>
          <a:prstGeom prst="rect">
            <a:avLst/>
          </a:prstGeom>
          <a:noFill/>
        </p:spPr>
        <p:txBody>
          <a:bodyPr vert="horz" lIns="50800" tIns="0" rtlCol="0">
            <a:spAutoFit/>
          </a:bodyPr>
          <a:lstStyle/>
          <a:p>
            <a:r>
              <a:rPr lang="ko-KR" altLang="en-US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우리가 마주한 </a:t>
            </a:r>
            <a:r>
              <a:rPr lang="en-US" altLang="ko-KR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가지 단절과 문제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AEFDB-543F-3B05-2982-DB320E814081}"/>
              </a:ext>
            </a:extLst>
          </p:cNvPr>
          <p:cNvSpPr txBox="1"/>
          <p:nvPr/>
        </p:nvSpPr>
        <p:spPr>
          <a:xfrm>
            <a:off x="584200" y="1193800"/>
            <a:ext cx="10922000" cy="246221"/>
          </a:xfrm>
          <a:prstGeom prst="rect">
            <a:avLst/>
          </a:prstGeom>
          <a:noFill/>
        </p:spPr>
        <p:txBody>
          <a:bodyPr vert="horz" lIns="50800" tIns="0" rtlCol="0">
            <a:spAutoFit/>
          </a:bodyPr>
          <a:lstStyle/>
          <a:p>
            <a:r>
              <a:rPr lang="ko-KR" altLang="en-US" sz="1300">
                <a:solidFill>
                  <a:srgbClr val="94A3B8"/>
                </a:solidFill>
                <a:latin typeface="Malgun Gothic" panose="020B0503020000020004" pitchFamily="50" charset="-127"/>
              </a:rPr>
              <a:t>학과 내 정보와 경험이 분산되어 있으며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94A3B8"/>
                </a:solidFill>
                <a:latin typeface="Malgun Gothic" panose="020B0503020000020004" pitchFamily="50" charset="-127"/>
              </a:rPr>
              <a:t>인맥 유무와 졸업 여부에 따라 단절되어 있습니다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A532B05-3C3A-A833-A6C6-E7A5DB80844E}"/>
              </a:ext>
            </a:extLst>
          </p:cNvPr>
          <p:cNvSpPr/>
          <p:nvPr/>
        </p:nvSpPr>
        <p:spPr>
          <a:xfrm>
            <a:off x="635000" y="1714500"/>
            <a:ext cx="3505200" cy="45085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F364E7-86BA-6815-89F7-931169664BC4}"/>
              </a:ext>
            </a:extLst>
          </p:cNvPr>
          <p:cNvSpPr txBox="1"/>
          <p:nvPr/>
        </p:nvSpPr>
        <p:spPr>
          <a:xfrm>
            <a:off x="838200" y="1841500"/>
            <a:ext cx="3098800" cy="24929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PROBLEM 01
01. 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정보의 분산
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학교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학과 공지 파편화 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포털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게시판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단톡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)
• 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복잡한 졸업요건 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학번별 상이한 기준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)
• 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진로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복수전공 창구 부재 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통합 채널 없음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)
⚠️ 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한눈에 찾기 어려움 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일정 누락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3B3C5CA-C4DE-1F85-B1BC-B9CEEB7CC2C1}"/>
              </a:ext>
            </a:extLst>
          </p:cNvPr>
          <p:cNvSpPr/>
          <p:nvPr/>
        </p:nvSpPr>
        <p:spPr>
          <a:xfrm>
            <a:off x="4368800" y="1714500"/>
            <a:ext cx="3505200" cy="45085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D4855-0587-C837-23B2-0541CAE85D03}"/>
              </a:ext>
            </a:extLst>
          </p:cNvPr>
          <p:cNvSpPr txBox="1"/>
          <p:nvPr/>
        </p:nvSpPr>
        <p:spPr>
          <a:xfrm>
            <a:off x="4572000" y="1841500"/>
            <a:ext cx="3098800" cy="212365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PROBLEM 02
02. 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정보 격차
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개인 인맥에 의존하는 정보 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지인 편차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)
• 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수강 후기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진로 경험 비대칭 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구두 전달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)
• 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신입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편입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복학생 정보 소외 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진입 장벽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)
⚠️ 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지인 유무에 따른 접근성 불평등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BAED3F3-1871-408D-76F1-E5DE8D0662AF}"/>
              </a:ext>
            </a:extLst>
          </p:cNvPr>
          <p:cNvSpPr/>
          <p:nvPr/>
        </p:nvSpPr>
        <p:spPr>
          <a:xfrm>
            <a:off x="8102600" y="1714500"/>
            <a:ext cx="3505200" cy="45085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EF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3E0C58-8455-2697-2B25-44BFAB1935A4}"/>
              </a:ext>
            </a:extLst>
          </p:cNvPr>
          <p:cNvSpPr txBox="1"/>
          <p:nvPr/>
        </p:nvSpPr>
        <p:spPr>
          <a:xfrm>
            <a:off x="8305800" y="1841500"/>
            <a:ext cx="3098800" cy="212365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PROBLEM 03
03. 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졸업생 연결 약화
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졸업 후 학과 교류 단절 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소통 단절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)
• 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선배들의 진로 노하우 유실 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임용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취업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)
• 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후배들에게 경험 미축적 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시행착오 반복</a:t>
            </a:r>
            <a:r>
              <a:rPr lang="en-US" altLang="ko-KR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)
⚠️ </a:t>
            </a:r>
            <a:r>
              <a:rPr lang="ko-KR" altLang="en-US" sz="1200" b="1">
                <a:solidFill>
                  <a:srgbClr val="EF4444"/>
                </a:solidFill>
                <a:latin typeface="Malgun Gothic" panose="020B0503020000020004" pitchFamily="50" charset="-127"/>
              </a:rPr>
              <a:t>소중한 진로 자산의 지속적 유실</a:t>
            </a:r>
          </a:p>
        </p:txBody>
      </p:sp>
    </p:spTree>
    <p:extLst>
      <p:ext uri="{BB962C8B-B14F-4D97-AF65-F5344CB8AC3E}">
        <p14:creationId xmlns:p14="http://schemas.microsoft.com/office/powerpoint/2010/main" val="1564713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5A4C91F-69A3-4154-E039-12FA49E9409C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6B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156871E-1685-45DB-7F47-7CE9172ADF71}"/>
              </a:ext>
            </a:extLst>
          </p:cNvPr>
          <p:cNvSpPr/>
          <p:nvPr/>
        </p:nvSpPr>
        <p:spPr>
          <a:xfrm>
            <a:off x="635000" y="279400"/>
            <a:ext cx="3556000" cy="330200"/>
          </a:xfrm>
          <a:prstGeom prst="roundRect">
            <a:avLst/>
          </a:prstGeom>
          <a:solidFill>
            <a:srgbClr val="2D190F"/>
          </a:solidFill>
          <a:ln w="1524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01 · WHY — 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핵심 해결 방향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F3AD01-4AAD-FFF5-5B65-123691A7373B}"/>
              </a:ext>
            </a:extLst>
          </p:cNvPr>
          <p:cNvSpPr txBox="1"/>
          <p:nvPr/>
        </p:nvSpPr>
        <p:spPr>
          <a:xfrm>
            <a:off x="584200" y="660400"/>
            <a:ext cx="10922000" cy="400110"/>
          </a:xfrm>
          <a:prstGeom prst="rect">
            <a:avLst/>
          </a:prstGeom>
          <a:noFill/>
        </p:spPr>
        <p:txBody>
          <a:bodyPr vert="horz" lIns="50800" tIns="0" rtlCol="0">
            <a:spAutoFit/>
          </a:bodyPr>
          <a:lstStyle/>
          <a:p>
            <a:r>
              <a:rPr lang="en-US" altLang="ko-KR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가지 문제를 관통하는 해결 방향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D9664-5B42-71E8-DB03-B3AD95ABCA14}"/>
              </a:ext>
            </a:extLst>
          </p:cNvPr>
          <p:cNvSpPr txBox="1"/>
          <p:nvPr/>
        </p:nvSpPr>
        <p:spPr>
          <a:xfrm>
            <a:off x="584200" y="1193800"/>
            <a:ext cx="10922000" cy="246221"/>
          </a:xfrm>
          <a:prstGeom prst="rect">
            <a:avLst/>
          </a:prstGeom>
          <a:noFill/>
        </p:spPr>
        <p:txBody>
          <a:bodyPr vert="horz" lIns="50800" tIns="0" rtlCol="0">
            <a:spAutoFit/>
          </a:bodyPr>
          <a:lstStyle/>
          <a:p>
            <a:r>
              <a:rPr lang="ko-KR" altLang="en-US" sz="1300">
                <a:solidFill>
                  <a:srgbClr val="94A3B8"/>
                </a:solidFill>
                <a:latin typeface="Malgun Gothic" panose="020B0503020000020004" pitchFamily="50" charset="-127"/>
              </a:rPr>
              <a:t>분산과 격차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94A3B8"/>
                </a:solidFill>
                <a:latin typeface="Malgun Gothic" panose="020B0503020000020004" pitchFamily="50" charset="-127"/>
              </a:rPr>
              <a:t>단절을 해소하여 구성원 모두가 혜택을 누리는 연결 플랫폼을 지향합니다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1F025A6-5054-0E1A-84B2-18EA123A60E7}"/>
              </a:ext>
            </a:extLst>
          </p:cNvPr>
          <p:cNvSpPr/>
          <p:nvPr/>
        </p:nvSpPr>
        <p:spPr>
          <a:xfrm>
            <a:off x="635000" y="1714500"/>
            <a:ext cx="3505200" cy="33020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7378C0-52F2-E325-67AE-A6264F04C3F2}"/>
              </a:ext>
            </a:extLst>
          </p:cNvPr>
          <p:cNvSpPr txBox="1"/>
          <p:nvPr/>
        </p:nvSpPr>
        <p:spPr>
          <a:xfrm>
            <a:off x="838200" y="1841500"/>
            <a:ext cx="3098800" cy="17543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DIRECTION 01
</a:t>
            </a:r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정보의 통합
공지 </a:t>
            </a:r>
            <a:r>
              <a:rPr lang="en-US" altLang="ko-KR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학사일정 </a:t>
            </a:r>
            <a:r>
              <a:rPr lang="en-US" altLang="ko-KR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졸업요건 한곳 연동
</a:t>
            </a:r>
            <a:r>
              <a:rPr lang="en-US" altLang="ko-KR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학교</a:t>
            </a:r>
            <a:r>
              <a:rPr lang="en-US" altLang="ko-KR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학과 공지 자동 연동
</a:t>
            </a:r>
            <a:r>
              <a:rPr lang="en-US" altLang="ko-KR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학번별 졸업요건 자가점검 개선
</a:t>
            </a:r>
            <a:r>
              <a:rPr lang="en-US" altLang="ko-KR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학사 일정 및 진로 캘린더 통합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1086EE3-00EE-8BFB-724E-17B530451978}"/>
              </a:ext>
            </a:extLst>
          </p:cNvPr>
          <p:cNvSpPr/>
          <p:nvPr/>
        </p:nvSpPr>
        <p:spPr>
          <a:xfrm>
            <a:off x="4368800" y="1714500"/>
            <a:ext cx="3505200" cy="33020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0DAB65-3F14-8D04-B8EF-E14E525077DD}"/>
              </a:ext>
            </a:extLst>
          </p:cNvPr>
          <p:cNvSpPr txBox="1"/>
          <p:nvPr/>
        </p:nvSpPr>
        <p:spPr>
          <a:xfrm>
            <a:off x="4572000" y="1841500"/>
            <a:ext cx="3098800" cy="17543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DIRECTION 02
</a:t>
            </a:r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경험의 공유
인맥 없이도 모든 학우에게 열린 노하우
</a:t>
            </a:r>
            <a:r>
              <a:rPr lang="en-US" altLang="ko-KR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진로</a:t>
            </a:r>
            <a:r>
              <a:rPr lang="en-US" altLang="ko-KR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복수전공별 실시간 공유방
</a:t>
            </a:r>
            <a:r>
              <a:rPr lang="en-US" altLang="ko-KR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재학생 수강 후기 및 진로 팁
</a:t>
            </a:r>
            <a:r>
              <a:rPr lang="en-US" altLang="ko-KR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선후배 간 질의응답 및 경험 교류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1425494-A49D-5D23-1912-8991A454DEA7}"/>
              </a:ext>
            </a:extLst>
          </p:cNvPr>
          <p:cNvSpPr/>
          <p:nvPr/>
        </p:nvSpPr>
        <p:spPr>
          <a:xfrm>
            <a:off x="8102600" y="1714500"/>
            <a:ext cx="3505200" cy="33020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8AD4D1-2818-0C7E-C17D-1F41934C7C37}"/>
              </a:ext>
            </a:extLst>
          </p:cNvPr>
          <p:cNvSpPr txBox="1"/>
          <p:nvPr/>
        </p:nvSpPr>
        <p:spPr>
          <a:xfrm>
            <a:off x="8305800" y="1841500"/>
            <a:ext cx="3098800" cy="17543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DIRECTION 03
</a:t>
            </a:r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구성원 간 연결
선배의 경험이 후배의 자산으로 순환
</a:t>
            </a:r>
            <a:r>
              <a:rPr lang="en-US" altLang="ko-KR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졸업생 프로필 및 간편 멘토링
</a:t>
            </a:r>
            <a:r>
              <a:rPr lang="en-US" altLang="ko-KR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교수 상담 신청 및 지도교수 연결
</a:t>
            </a:r>
            <a:r>
              <a:rPr lang="en-US" altLang="ko-KR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• 1:1 </a:t>
            </a:r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및 단체 실시간 채팅 소통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733C74E-8BAB-3FBC-4449-D8CAC3D58625}"/>
              </a:ext>
            </a:extLst>
          </p:cNvPr>
          <p:cNvSpPr/>
          <p:nvPr/>
        </p:nvSpPr>
        <p:spPr>
          <a:xfrm>
            <a:off x="635000" y="5270500"/>
            <a:ext cx="10922000" cy="1016000"/>
          </a:xfrm>
          <a:prstGeom prst="roundRect">
            <a:avLst/>
          </a:prstGeom>
          <a:solidFill>
            <a:srgbClr val="2D190F"/>
          </a:solidFill>
          <a:ln w="2540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020BBE-1FF6-56B6-F30C-4831A40EC9CD}"/>
              </a:ext>
            </a:extLst>
          </p:cNvPr>
          <p:cNvSpPr txBox="1"/>
          <p:nvPr/>
        </p:nvSpPr>
        <p:spPr>
          <a:xfrm>
            <a:off x="762000" y="5397500"/>
            <a:ext cx="1066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400">
                <a:solidFill>
                  <a:srgbClr val="FFA040"/>
                </a:solidFill>
                <a:latin typeface="Malgun Gothic" panose="020B0503020000020004" pitchFamily="50" charset="-127"/>
              </a:rPr>
              <a:t>CORE DIRECTION · </a:t>
            </a:r>
            <a:r>
              <a:rPr lang="ko-KR" altLang="en-US" sz="1400">
                <a:solidFill>
                  <a:srgbClr val="FFA040"/>
                </a:solidFill>
                <a:latin typeface="Malgun Gothic" panose="020B0503020000020004" pitchFamily="50" charset="-127"/>
              </a:rPr>
              <a:t>핵심 메시지
‘정보의 통합 </a:t>
            </a:r>
            <a:r>
              <a:rPr lang="en-US" altLang="ko-KR" sz="1400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FFA040"/>
                </a:solidFill>
                <a:latin typeface="Malgun Gothic" panose="020B0503020000020004" pitchFamily="50" charset="-127"/>
              </a:rPr>
              <a:t>경험의 공유 </a:t>
            </a:r>
            <a:r>
              <a:rPr lang="en-US" altLang="ko-KR" sz="1400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400">
                <a:solidFill>
                  <a:srgbClr val="FFA040"/>
                </a:solidFill>
                <a:latin typeface="Malgun Gothic" panose="020B0503020000020004" pitchFamily="50" charset="-127"/>
              </a:rPr>
              <a:t>구성원 간 연결’</a:t>
            </a:r>
          </a:p>
        </p:txBody>
      </p:sp>
    </p:spTree>
    <p:extLst>
      <p:ext uri="{BB962C8B-B14F-4D97-AF65-F5344CB8AC3E}">
        <p14:creationId xmlns:p14="http://schemas.microsoft.com/office/powerpoint/2010/main" val="3309680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7377D61-F2E9-7880-EF61-79805B81DA53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6B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2424BA5-5403-C90A-A41E-8549F489817E}"/>
              </a:ext>
            </a:extLst>
          </p:cNvPr>
          <p:cNvSpPr/>
          <p:nvPr/>
        </p:nvSpPr>
        <p:spPr>
          <a:xfrm>
            <a:off x="635000" y="279400"/>
            <a:ext cx="3556000" cy="330200"/>
          </a:xfrm>
          <a:prstGeom prst="roundRect">
            <a:avLst/>
          </a:prstGeom>
          <a:solidFill>
            <a:srgbClr val="2D190F"/>
          </a:solidFill>
          <a:ln w="1524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02 · HOW — 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개발 기술 및 구현 현황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775DF4-4E78-FD4A-080C-F288B1826FA9}"/>
              </a:ext>
            </a:extLst>
          </p:cNvPr>
          <p:cNvSpPr txBox="1"/>
          <p:nvPr/>
        </p:nvSpPr>
        <p:spPr>
          <a:xfrm>
            <a:off x="584200" y="660400"/>
            <a:ext cx="10922000" cy="400110"/>
          </a:xfrm>
          <a:prstGeom prst="rect">
            <a:avLst/>
          </a:prstGeom>
          <a:noFill/>
        </p:spPr>
        <p:txBody>
          <a:bodyPr vert="horz" lIns="50800" tIns="0" rtlCol="0">
            <a:spAutoFit/>
          </a:bodyPr>
          <a:lstStyle/>
          <a:p>
            <a:r>
              <a:rPr lang="ko-KR" altLang="en-US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개발 기술 및 현재 구현 완료 </a:t>
            </a:r>
            <a:r>
              <a:rPr lang="en-US" altLang="ko-KR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5</a:t>
            </a:r>
            <a:r>
              <a:rPr lang="ko-KR" altLang="en-US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대 기능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60780-87C1-DCF4-26A3-343BF54F5272}"/>
              </a:ext>
            </a:extLst>
          </p:cNvPr>
          <p:cNvSpPr txBox="1"/>
          <p:nvPr/>
        </p:nvSpPr>
        <p:spPr>
          <a:xfrm>
            <a:off x="584200" y="1193800"/>
            <a:ext cx="10922000" cy="246221"/>
          </a:xfrm>
          <a:prstGeom prst="rect">
            <a:avLst/>
          </a:prstGeom>
          <a:noFill/>
        </p:spPr>
        <p:txBody>
          <a:bodyPr vert="horz" lIns="50800" tIns="0" rtlCol="0">
            <a:spAutoFit/>
          </a:bodyPr>
          <a:lstStyle/>
          <a:p>
            <a:r>
              <a:rPr lang="ko-KR" altLang="en-US" sz="1300">
                <a:solidFill>
                  <a:srgbClr val="94A3B8"/>
                </a:solidFill>
                <a:latin typeface="Malgun Gothic" panose="020B0503020000020004" pitchFamily="50" charset="-127"/>
              </a:rPr>
              <a:t>검증된 개발 스택을 기반으로 보안 인증 시스템과 실시간 채팅 기능을 우선 구현 완료했습니다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99C4241-A941-68A6-79B7-DFB3E4D6A39D}"/>
              </a:ext>
            </a:extLst>
          </p:cNvPr>
          <p:cNvSpPr/>
          <p:nvPr/>
        </p:nvSpPr>
        <p:spPr>
          <a:xfrm>
            <a:off x="635000" y="1651000"/>
            <a:ext cx="2616200" cy="114300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7E6FAC-0139-37EB-9DDE-E5B433F72737}"/>
              </a:ext>
            </a:extLst>
          </p:cNvPr>
          <p:cNvSpPr txBox="1"/>
          <p:nvPr/>
        </p:nvSpPr>
        <p:spPr>
          <a:xfrm>
            <a:off x="762000" y="1752600"/>
            <a:ext cx="23622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3B82F6"/>
                </a:solidFill>
                <a:latin typeface="Malgun Gothic" panose="020B0503020000020004" pitchFamily="50" charset="-127"/>
              </a:rPr>
              <a:t>TECH 01
Google Antigravity
AI </a:t>
            </a:r>
            <a:r>
              <a:rPr lang="ko-KR" altLang="en-US" sz="1100" b="1">
                <a:solidFill>
                  <a:srgbClr val="3B82F6"/>
                </a:solidFill>
                <a:latin typeface="Malgun Gothic" panose="020B0503020000020004" pitchFamily="50" charset="-127"/>
              </a:rPr>
              <a:t>에이전트 기반 인터랙션 설계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3717E1B-84EC-C07A-894C-FB9E25640A6C}"/>
              </a:ext>
            </a:extLst>
          </p:cNvPr>
          <p:cNvSpPr/>
          <p:nvPr/>
        </p:nvSpPr>
        <p:spPr>
          <a:xfrm>
            <a:off x="3403600" y="1651000"/>
            <a:ext cx="2616200" cy="114300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1E3B4F-365D-31C0-3F70-43F17C28353F}"/>
              </a:ext>
            </a:extLst>
          </p:cNvPr>
          <p:cNvSpPr txBox="1"/>
          <p:nvPr/>
        </p:nvSpPr>
        <p:spPr>
          <a:xfrm>
            <a:off x="3530600" y="1752600"/>
            <a:ext cx="23622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3B82F6"/>
                </a:solidFill>
                <a:latin typeface="Malgun Gothic" panose="020B0503020000020004" pitchFamily="50" charset="-127"/>
              </a:rPr>
              <a:t>TECH 02
GitHub
</a:t>
            </a:r>
            <a:r>
              <a:rPr lang="ko-KR" altLang="en-US" sz="1100" b="1">
                <a:solidFill>
                  <a:srgbClr val="3B82F6"/>
                </a:solidFill>
                <a:latin typeface="Malgun Gothic" panose="020B0503020000020004" pitchFamily="50" charset="-127"/>
              </a:rPr>
              <a:t>버전 관리 및 웹 호스팅 인프라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D0EA396-1AAA-056B-1BDD-AD7B1DB5A2CA}"/>
              </a:ext>
            </a:extLst>
          </p:cNvPr>
          <p:cNvSpPr/>
          <p:nvPr/>
        </p:nvSpPr>
        <p:spPr>
          <a:xfrm>
            <a:off x="6172200" y="1651000"/>
            <a:ext cx="2616200" cy="114300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417CC6-8C79-5441-C0C9-A30869333953}"/>
              </a:ext>
            </a:extLst>
          </p:cNvPr>
          <p:cNvSpPr txBox="1"/>
          <p:nvPr/>
        </p:nvSpPr>
        <p:spPr>
          <a:xfrm>
            <a:off x="6299200" y="1752600"/>
            <a:ext cx="23622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3B82F6"/>
                </a:solidFill>
                <a:latin typeface="Malgun Gothic" panose="020B0503020000020004" pitchFamily="50" charset="-127"/>
              </a:rPr>
              <a:t>TECH 03
Firebase Auth
</a:t>
            </a:r>
            <a:r>
              <a:rPr lang="ko-KR" altLang="en-US" sz="1100" b="1">
                <a:solidFill>
                  <a:srgbClr val="3B82F6"/>
                </a:solidFill>
                <a:latin typeface="Malgun Gothic" panose="020B0503020000020004" pitchFamily="50" charset="-127"/>
              </a:rPr>
              <a:t>안전한 이메일 계정 인증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EB18697-4646-7907-D36C-C7102F9D83DB}"/>
              </a:ext>
            </a:extLst>
          </p:cNvPr>
          <p:cNvSpPr/>
          <p:nvPr/>
        </p:nvSpPr>
        <p:spPr>
          <a:xfrm>
            <a:off x="8940800" y="1651000"/>
            <a:ext cx="2616200" cy="114300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925A16-AFBE-9A1D-AD16-C38DB96367C9}"/>
              </a:ext>
            </a:extLst>
          </p:cNvPr>
          <p:cNvSpPr txBox="1"/>
          <p:nvPr/>
        </p:nvSpPr>
        <p:spPr>
          <a:xfrm>
            <a:off x="9067800" y="1752600"/>
            <a:ext cx="23622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3B82F6"/>
                </a:solidFill>
                <a:latin typeface="Malgun Gothic" panose="020B0503020000020004" pitchFamily="50" charset="-127"/>
              </a:rPr>
              <a:t>TECH 04
Cloud Firestore
</a:t>
            </a:r>
            <a:r>
              <a:rPr lang="ko-KR" altLang="en-US" sz="1100" b="1">
                <a:solidFill>
                  <a:srgbClr val="3B82F6"/>
                </a:solidFill>
                <a:latin typeface="Malgun Gothic" panose="020B0503020000020004" pitchFamily="50" charset="-127"/>
              </a:rPr>
              <a:t>실시간 </a:t>
            </a:r>
            <a:r>
              <a:rPr lang="en-US" altLang="ko-KR" sz="1100" b="1">
                <a:solidFill>
                  <a:srgbClr val="3B82F6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1100" b="1">
                <a:solidFill>
                  <a:srgbClr val="3B82F6"/>
                </a:solidFill>
                <a:latin typeface="Malgun Gothic" panose="020B0503020000020004" pitchFamily="50" charset="-127"/>
              </a:rPr>
              <a:t>및 채팅 동기화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E7164C1-9382-E8DF-72F6-6F1B0FBFD28E}"/>
              </a:ext>
            </a:extLst>
          </p:cNvPr>
          <p:cNvSpPr/>
          <p:nvPr/>
        </p:nvSpPr>
        <p:spPr>
          <a:xfrm>
            <a:off x="635000" y="3048000"/>
            <a:ext cx="3505200" cy="1524000"/>
          </a:xfrm>
          <a:prstGeom prst="roundRect">
            <a:avLst/>
          </a:prstGeom>
          <a:solidFill>
            <a:srgbClr val="0C231C"/>
          </a:solidFill>
          <a:ln w="2286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3D682D-5617-29C8-F141-12A9E2C041AA}"/>
              </a:ext>
            </a:extLst>
          </p:cNvPr>
          <p:cNvSpPr txBox="1"/>
          <p:nvPr/>
        </p:nvSpPr>
        <p:spPr>
          <a:xfrm>
            <a:off x="812800" y="3149600"/>
            <a:ext cx="31496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 b="1">
                <a:solidFill>
                  <a:srgbClr val="10B981"/>
                </a:solidFill>
                <a:latin typeface="Malgun Gothic" panose="020B0503020000020004" pitchFamily="50" charset="-127"/>
              </a:rPr>
              <a:t>✓ 구현 완료
회원가입 및 로그인
</a:t>
            </a:r>
            <a:r>
              <a:rPr lang="en-US" altLang="ko-KR" sz="1200" b="1">
                <a:solidFill>
                  <a:srgbClr val="10B981"/>
                </a:solidFill>
                <a:latin typeface="Malgun Gothic" panose="020B0503020000020004" pitchFamily="50" charset="-127"/>
              </a:rPr>
              <a:t>Firebase Auth </a:t>
            </a:r>
            <a:r>
              <a:rPr lang="ko-KR" altLang="en-US" sz="1200" b="1">
                <a:solidFill>
                  <a:srgbClr val="10B981"/>
                </a:solidFill>
                <a:latin typeface="Malgun Gothic" panose="020B0503020000020004" pitchFamily="50" charset="-127"/>
              </a:rPr>
              <a:t>연동 계정 생성 및 안전한 인증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8ECE65C-0398-0640-5C10-4FBFD0BD009A}"/>
              </a:ext>
            </a:extLst>
          </p:cNvPr>
          <p:cNvSpPr/>
          <p:nvPr/>
        </p:nvSpPr>
        <p:spPr>
          <a:xfrm>
            <a:off x="4368800" y="3048000"/>
            <a:ext cx="3505200" cy="1524000"/>
          </a:xfrm>
          <a:prstGeom prst="roundRect">
            <a:avLst/>
          </a:prstGeom>
          <a:solidFill>
            <a:srgbClr val="0C231C"/>
          </a:solidFill>
          <a:ln w="2286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EDE54E-FFE5-36E9-4369-3D843115E938}"/>
              </a:ext>
            </a:extLst>
          </p:cNvPr>
          <p:cNvSpPr txBox="1"/>
          <p:nvPr/>
        </p:nvSpPr>
        <p:spPr>
          <a:xfrm>
            <a:off x="4546600" y="3149600"/>
            <a:ext cx="31496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 b="1">
                <a:solidFill>
                  <a:srgbClr val="10B981"/>
                </a:solidFill>
                <a:latin typeface="Malgun Gothic" panose="020B0503020000020004" pitchFamily="50" charset="-127"/>
              </a:rPr>
              <a:t>✓ 구현 완료
관리자 승인 접근 제어
미승인 계정 차단</a:t>
            </a:r>
            <a:r>
              <a:rPr lang="en-US" altLang="ko-KR" sz="1200" b="1">
                <a:solidFill>
                  <a:srgbClr val="10B98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 b="1">
                <a:solidFill>
                  <a:srgbClr val="10B981"/>
                </a:solidFill>
                <a:latin typeface="Malgun Gothic" panose="020B0503020000020004" pitchFamily="50" charset="-127"/>
              </a:rPr>
              <a:t>교육학과 검증 구성원만 접근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EB9A4CF-A9BD-C8D0-1202-20063DB65825}"/>
              </a:ext>
            </a:extLst>
          </p:cNvPr>
          <p:cNvSpPr/>
          <p:nvPr/>
        </p:nvSpPr>
        <p:spPr>
          <a:xfrm>
            <a:off x="8102600" y="3048000"/>
            <a:ext cx="3505200" cy="1524000"/>
          </a:xfrm>
          <a:prstGeom prst="roundRect">
            <a:avLst/>
          </a:prstGeom>
          <a:solidFill>
            <a:srgbClr val="0C231C"/>
          </a:solidFill>
          <a:ln w="2286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9778D4-DB36-E9CE-DBB4-9C73163FC5F5}"/>
              </a:ext>
            </a:extLst>
          </p:cNvPr>
          <p:cNvSpPr txBox="1"/>
          <p:nvPr/>
        </p:nvSpPr>
        <p:spPr>
          <a:xfrm>
            <a:off x="8280400" y="3149600"/>
            <a:ext cx="31496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 b="1">
                <a:solidFill>
                  <a:srgbClr val="10B981"/>
                </a:solidFill>
                <a:latin typeface="Malgun Gothic" panose="020B0503020000020004" pitchFamily="50" charset="-127"/>
              </a:rPr>
              <a:t>✓ 구현 완료
관리자 회원 관리
가입 신청 검토</a:t>
            </a:r>
            <a:r>
              <a:rPr lang="en-US" altLang="ko-KR" sz="1200" b="1">
                <a:solidFill>
                  <a:srgbClr val="10B981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 b="1">
                <a:solidFill>
                  <a:srgbClr val="10B981"/>
                </a:solidFill>
                <a:latin typeface="Malgun Gothic" panose="020B0503020000020004" pitchFamily="50" charset="-127"/>
              </a:rPr>
              <a:t>승인</a:t>
            </a:r>
            <a:r>
              <a:rPr lang="en-US" altLang="ko-KR" sz="1200" b="1">
                <a:solidFill>
                  <a:srgbClr val="10B981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200" b="1">
                <a:solidFill>
                  <a:srgbClr val="10B981"/>
                </a:solidFill>
                <a:latin typeface="Malgun Gothic" panose="020B0503020000020004" pitchFamily="50" charset="-127"/>
              </a:rPr>
              <a:t>거절 상태 변경 및 권한 제어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FDBB05B-E7A4-249D-33F1-F757B5B51FCD}"/>
              </a:ext>
            </a:extLst>
          </p:cNvPr>
          <p:cNvSpPr/>
          <p:nvPr/>
        </p:nvSpPr>
        <p:spPr>
          <a:xfrm>
            <a:off x="635000" y="4762500"/>
            <a:ext cx="5334000" cy="1460500"/>
          </a:xfrm>
          <a:prstGeom prst="roundRect">
            <a:avLst/>
          </a:prstGeom>
          <a:solidFill>
            <a:srgbClr val="0C231C"/>
          </a:solidFill>
          <a:ln w="2286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63D0D7-82D9-AB23-B936-6290D0503D1C}"/>
              </a:ext>
            </a:extLst>
          </p:cNvPr>
          <p:cNvSpPr txBox="1"/>
          <p:nvPr/>
        </p:nvSpPr>
        <p:spPr>
          <a:xfrm>
            <a:off x="838200" y="4889500"/>
            <a:ext cx="49276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 b="1">
                <a:solidFill>
                  <a:srgbClr val="10B981"/>
                </a:solidFill>
                <a:latin typeface="Malgun Gothic" panose="020B0503020000020004" pitchFamily="50" charset="-127"/>
              </a:rPr>
              <a:t>✓ 구현 완료
</a:t>
            </a:r>
            <a:r>
              <a:rPr lang="en-US" altLang="ko-KR" sz="1200" b="1">
                <a:solidFill>
                  <a:srgbClr val="10B981"/>
                </a:solidFill>
                <a:latin typeface="Malgun Gothic" panose="020B0503020000020004" pitchFamily="50" charset="-127"/>
              </a:rPr>
              <a:t>1:1 </a:t>
            </a:r>
            <a:r>
              <a:rPr lang="ko-KR" altLang="en-US" sz="1200" b="1">
                <a:solidFill>
                  <a:srgbClr val="10B981"/>
                </a:solidFill>
                <a:latin typeface="Malgun Gothic" panose="020B0503020000020004" pitchFamily="50" charset="-127"/>
              </a:rPr>
              <a:t>및 단체 실시간 채팅
</a:t>
            </a:r>
            <a:r>
              <a:rPr lang="en-US" altLang="ko-KR" sz="1200" b="1">
                <a:solidFill>
                  <a:srgbClr val="10B981"/>
                </a:solidFill>
                <a:latin typeface="Malgun Gothic" panose="020B0503020000020004" pitchFamily="50" charset="-127"/>
              </a:rPr>
              <a:t>Firestore </a:t>
            </a:r>
            <a:r>
              <a:rPr lang="ko-KR" altLang="en-US" sz="1200" b="1">
                <a:solidFill>
                  <a:srgbClr val="10B981"/>
                </a:solidFill>
                <a:latin typeface="Malgun Gothic" panose="020B0503020000020004" pitchFamily="50" charset="-127"/>
              </a:rPr>
              <a:t>실시간 리스너 기반 지연 없는 메시지 소통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2071BD4-E3B6-DE64-752A-617F7DC6F86A}"/>
              </a:ext>
            </a:extLst>
          </p:cNvPr>
          <p:cNvSpPr/>
          <p:nvPr/>
        </p:nvSpPr>
        <p:spPr>
          <a:xfrm>
            <a:off x="6223000" y="4762500"/>
            <a:ext cx="5334000" cy="1460500"/>
          </a:xfrm>
          <a:prstGeom prst="roundRect">
            <a:avLst/>
          </a:prstGeom>
          <a:solidFill>
            <a:srgbClr val="0C231C"/>
          </a:solidFill>
          <a:ln w="2286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2B6FEE-EB10-1452-A244-AFD1FA81370A}"/>
              </a:ext>
            </a:extLst>
          </p:cNvPr>
          <p:cNvSpPr txBox="1"/>
          <p:nvPr/>
        </p:nvSpPr>
        <p:spPr>
          <a:xfrm>
            <a:off x="6426200" y="4889500"/>
            <a:ext cx="49276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 b="1">
                <a:solidFill>
                  <a:srgbClr val="10B981"/>
                </a:solidFill>
                <a:latin typeface="Malgun Gothic" panose="020B0503020000020004" pitchFamily="50" charset="-127"/>
              </a:rPr>
              <a:t>✓ 구현 완료
실시간 메시지 읽음 표시
참여자별 수신 확인 및 읽은 인원수 실시간 동기화</a:t>
            </a:r>
          </a:p>
        </p:txBody>
      </p:sp>
    </p:spTree>
    <p:extLst>
      <p:ext uri="{BB962C8B-B14F-4D97-AF65-F5344CB8AC3E}">
        <p14:creationId xmlns:p14="http://schemas.microsoft.com/office/powerpoint/2010/main" val="3562643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1EE46B8-B6A0-B346-6031-8917B33AEECD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6B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DA3CDEC-E98C-14F5-7462-5586CB23F437}"/>
              </a:ext>
            </a:extLst>
          </p:cNvPr>
          <p:cNvSpPr/>
          <p:nvPr/>
        </p:nvSpPr>
        <p:spPr>
          <a:xfrm>
            <a:off x="635000" y="279400"/>
            <a:ext cx="3556000" cy="330200"/>
          </a:xfrm>
          <a:prstGeom prst="roundRect">
            <a:avLst/>
          </a:prstGeom>
          <a:solidFill>
            <a:srgbClr val="2D190F"/>
          </a:solidFill>
          <a:ln w="1524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02 · HOW — 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실제 구현 화면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A7F7E-A424-071A-A4F3-01A162629672}"/>
              </a:ext>
            </a:extLst>
          </p:cNvPr>
          <p:cNvSpPr txBox="1"/>
          <p:nvPr/>
        </p:nvSpPr>
        <p:spPr>
          <a:xfrm>
            <a:off x="584200" y="660400"/>
            <a:ext cx="10922000" cy="400110"/>
          </a:xfrm>
          <a:prstGeom prst="rect">
            <a:avLst/>
          </a:prstGeom>
          <a:noFill/>
        </p:spPr>
        <p:txBody>
          <a:bodyPr vert="horz" lIns="50800" tIns="0" rtlCol="0">
            <a:spAutoFit/>
          </a:bodyPr>
          <a:lstStyle/>
          <a:p>
            <a:r>
              <a:rPr lang="ko-KR" altLang="en-US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동국</a:t>
            </a:r>
            <a:r>
              <a:rPr lang="en-US" altLang="ko-KR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e</a:t>
            </a:r>
            <a:r>
              <a:rPr lang="ko-KR" altLang="en-US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음 실제 서비스 구현 화면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91392-F352-0E5F-C30B-049A43CB883A}"/>
              </a:ext>
            </a:extLst>
          </p:cNvPr>
          <p:cNvSpPr txBox="1"/>
          <p:nvPr/>
        </p:nvSpPr>
        <p:spPr>
          <a:xfrm>
            <a:off x="584200" y="1193800"/>
            <a:ext cx="10922000" cy="246221"/>
          </a:xfrm>
          <a:prstGeom prst="rect">
            <a:avLst/>
          </a:prstGeom>
          <a:noFill/>
        </p:spPr>
        <p:txBody>
          <a:bodyPr vert="horz" lIns="50800" tIns="0" rtlCol="0">
            <a:spAutoFit/>
          </a:bodyPr>
          <a:lstStyle/>
          <a:p>
            <a:r>
              <a:rPr lang="ko-KR" altLang="en-US" sz="1300">
                <a:solidFill>
                  <a:srgbClr val="94A3B8"/>
                </a:solidFill>
                <a:latin typeface="Malgun Gothic" panose="020B0503020000020004" pitchFamily="50" charset="-127"/>
              </a:rPr>
              <a:t>실제 구축된 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50" charset="-127"/>
              </a:rPr>
              <a:t>Firebase </a:t>
            </a:r>
            <a:r>
              <a:rPr lang="ko-KR" altLang="en-US" sz="1300">
                <a:solidFill>
                  <a:srgbClr val="94A3B8"/>
                </a:solidFill>
                <a:latin typeface="Malgun Gothic" panose="020B0503020000020004" pitchFamily="50" charset="-127"/>
              </a:rPr>
              <a:t>계정 인증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1300">
                <a:solidFill>
                  <a:srgbClr val="94A3B8"/>
                </a:solidFill>
                <a:latin typeface="Malgun Gothic" panose="020B0503020000020004" pitchFamily="50" charset="-127"/>
              </a:rPr>
              <a:t>승인 시스템과 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50" charset="-127"/>
              </a:rPr>
              <a:t>Firestore </a:t>
            </a:r>
            <a:r>
              <a:rPr lang="ko-KR" altLang="en-US" sz="1300">
                <a:solidFill>
                  <a:srgbClr val="94A3B8"/>
                </a:solidFill>
                <a:latin typeface="Malgun Gothic" panose="020B0503020000020004" pitchFamily="50" charset="-127"/>
              </a:rPr>
              <a:t>실시간 학과 대화창 화면입니다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28F887D-C31D-F18A-03AF-28AB99F23826}"/>
              </a:ext>
            </a:extLst>
          </p:cNvPr>
          <p:cNvSpPr/>
          <p:nvPr/>
        </p:nvSpPr>
        <p:spPr>
          <a:xfrm>
            <a:off x="635000" y="1651000"/>
            <a:ext cx="5334000" cy="46355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ADB872-749E-8280-9B72-696FC18FB079}"/>
              </a:ext>
            </a:extLst>
          </p:cNvPr>
          <p:cNvSpPr txBox="1"/>
          <p:nvPr/>
        </p:nvSpPr>
        <p:spPr>
          <a:xfrm>
            <a:off x="787400" y="1778000"/>
            <a:ext cx="50292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01. Firebase </a:t>
            </a:r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계정 인증 및 관리자 승인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0887A89-2D21-9DA5-4A3B-78BE6FBFA36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2286000"/>
            <a:ext cx="4953000" cy="330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ABCB59-F4C8-B99C-830E-B6C9D15FCB75}"/>
              </a:ext>
            </a:extLst>
          </p:cNvPr>
          <p:cNvSpPr txBox="1"/>
          <p:nvPr/>
        </p:nvSpPr>
        <p:spPr>
          <a:xfrm>
            <a:off x="787400" y="5715000"/>
            <a:ext cx="50292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50" charset="-127"/>
              </a:rPr>
              <a:t>회원가입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50" charset="-127"/>
              </a:rPr>
              <a:t>승인 대기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50" charset="-127"/>
              </a:rPr>
              <a:t>(pending)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50" charset="-127"/>
              </a:rPr>
              <a:t>보안 규칙 강제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50" charset="-127"/>
              </a:rPr>
              <a:t>동국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50" charset="-127"/>
              </a:rPr>
              <a:t>e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50" charset="-127"/>
              </a:rPr>
              <a:t>음 회원 전용 로그인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AC23421-DCCE-E26D-FF78-CCAE87238D41}"/>
              </a:ext>
            </a:extLst>
          </p:cNvPr>
          <p:cNvSpPr/>
          <p:nvPr/>
        </p:nvSpPr>
        <p:spPr>
          <a:xfrm>
            <a:off x="6223000" y="1651000"/>
            <a:ext cx="5334000" cy="46355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473D08-AAA2-1B0D-87C5-4A6D1FBFA86D}"/>
              </a:ext>
            </a:extLst>
          </p:cNvPr>
          <p:cNvSpPr txBox="1"/>
          <p:nvPr/>
        </p:nvSpPr>
        <p:spPr>
          <a:xfrm>
            <a:off x="6375400" y="1778000"/>
            <a:ext cx="50292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02. </a:t>
            </a:r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학과 전용 </a:t>
            </a:r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1:1 </a:t>
            </a:r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및 단체 실시간 대화창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38FDEEF-483F-BA1B-9984-5EED4BFB68F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500" y="2286000"/>
            <a:ext cx="4953000" cy="3302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0E9A61A-DA31-2D3A-6768-83FEDBE23415}"/>
              </a:ext>
            </a:extLst>
          </p:cNvPr>
          <p:cNvSpPr txBox="1"/>
          <p:nvPr/>
        </p:nvSpPr>
        <p:spPr>
          <a:xfrm>
            <a:off x="6375400" y="5715000"/>
            <a:ext cx="50292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50" charset="-127"/>
              </a:rPr>
              <a:t>교수 면담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50" charset="-127"/>
              </a:rPr>
              <a:t>선후배 멘토링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50" charset="-127"/>
              </a:rPr>
              <a:t>단체 채팅방 개설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50" charset="-127"/>
              </a:rPr>
              <a:t>실시간 메시지 읽음 카운트</a:t>
            </a:r>
          </a:p>
        </p:txBody>
      </p:sp>
    </p:spTree>
    <p:extLst>
      <p:ext uri="{BB962C8B-B14F-4D97-AF65-F5344CB8AC3E}">
        <p14:creationId xmlns:p14="http://schemas.microsoft.com/office/powerpoint/2010/main" val="1693790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0269BA1-2170-0632-C6B6-0ED4D2DB6F45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6B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97346CB-30F2-2458-0184-0F4EDAD9378B}"/>
              </a:ext>
            </a:extLst>
          </p:cNvPr>
          <p:cNvSpPr/>
          <p:nvPr/>
        </p:nvSpPr>
        <p:spPr>
          <a:xfrm>
            <a:off x="635000" y="279400"/>
            <a:ext cx="3556000" cy="330200"/>
          </a:xfrm>
          <a:prstGeom prst="roundRect">
            <a:avLst/>
          </a:prstGeom>
          <a:solidFill>
            <a:srgbClr val="2D190F"/>
          </a:solidFill>
          <a:ln w="1524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02 · HOW — 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향후 확장 로드맵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88A4A-574F-F32C-BCE5-882510C36AF6}"/>
              </a:ext>
            </a:extLst>
          </p:cNvPr>
          <p:cNvSpPr txBox="1"/>
          <p:nvPr/>
        </p:nvSpPr>
        <p:spPr>
          <a:xfrm>
            <a:off x="584200" y="660400"/>
            <a:ext cx="10922000" cy="400110"/>
          </a:xfrm>
          <a:prstGeom prst="rect">
            <a:avLst/>
          </a:prstGeom>
          <a:noFill/>
        </p:spPr>
        <p:txBody>
          <a:bodyPr vert="horz" lIns="50800" tIns="0" rtlCol="0">
            <a:spAutoFit/>
          </a:bodyPr>
          <a:lstStyle/>
          <a:p>
            <a:r>
              <a:rPr lang="ko-KR" altLang="en-US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향후 개발할 </a:t>
            </a:r>
            <a:r>
              <a:rPr lang="en-US" altLang="ko-KR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6</a:t>
            </a:r>
            <a:r>
              <a:rPr lang="ko-KR" altLang="en-US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대 핵심 확장 기능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5A8634-D19C-5024-41A7-C81A03451154}"/>
              </a:ext>
            </a:extLst>
          </p:cNvPr>
          <p:cNvSpPr txBox="1"/>
          <p:nvPr/>
        </p:nvSpPr>
        <p:spPr>
          <a:xfrm>
            <a:off x="584200" y="1193800"/>
            <a:ext cx="10922000" cy="246221"/>
          </a:xfrm>
          <a:prstGeom prst="rect">
            <a:avLst/>
          </a:prstGeom>
          <a:noFill/>
        </p:spPr>
        <p:txBody>
          <a:bodyPr vert="horz" lIns="50800" tIns="0" rtlCol="0">
            <a:spAutoFit/>
          </a:bodyPr>
          <a:lstStyle/>
          <a:p>
            <a:r>
              <a:rPr lang="ko-KR" altLang="en-US" sz="1300">
                <a:solidFill>
                  <a:srgbClr val="94A3B8"/>
                </a:solidFill>
                <a:latin typeface="Malgun Gothic" panose="020B0503020000020004" pitchFamily="50" charset="-127"/>
              </a:rPr>
              <a:t>정보 연동과 교류 기능 강화를 통해 완성도 높은 학과 전용 플랫폼으로 단계적 고도화합니다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850A4A9-0D8A-0E37-E88C-8BC97680B779}"/>
              </a:ext>
            </a:extLst>
          </p:cNvPr>
          <p:cNvSpPr/>
          <p:nvPr/>
        </p:nvSpPr>
        <p:spPr>
          <a:xfrm>
            <a:off x="635000" y="1778000"/>
            <a:ext cx="3505200" cy="19685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1075B2-B95E-59BD-8013-05851B54DC32}"/>
              </a:ext>
            </a:extLst>
          </p:cNvPr>
          <p:cNvSpPr txBox="1"/>
          <p:nvPr/>
        </p:nvSpPr>
        <p:spPr>
          <a:xfrm>
            <a:off x="812800" y="1930400"/>
            <a:ext cx="31496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⏳ 개발 예정 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정보 연동 영역
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01. 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학교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학과 공지 연동
대학 포털 및 교육학과 공식 공지사항 실시간 수집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E386ED8-E9FD-FD0C-1A5F-775D64E97BF7}"/>
              </a:ext>
            </a:extLst>
          </p:cNvPr>
          <p:cNvSpPr/>
          <p:nvPr/>
        </p:nvSpPr>
        <p:spPr>
          <a:xfrm>
            <a:off x="4368800" y="1778000"/>
            <a:ext cx="3505200" cy="19685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B17721-0A31-0F8C-91AC-B4AA59B28BEE}"/>
              </a:ext>
            </a:extLst>
          </p:cNvPr>
          <p:cNvSpPr txBox="1"/>
          <p:nvPr/>
        </p:nvSpPr>
        <p:spPr>
          <a:xfrm>
            <a:off x="4546600" y="1930400"/>
            <a:ext cx="31496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⏳ 개발 예정 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정보 연동 영역
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02. 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학사 일정 캘린더
수강신청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시험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종강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학사 일정 통합 알림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EFE5A64-412B-3F0B-E179-B4FEAF92E0BC}"/>
              </a:ext>
            </a:extLst>
          </p:cNvPr>
          <p:cNvSpPr/>
          <p:nvPr/>
        </p:nvSpPr>
        <p:spPr>
          <a:xfrm>
            <a:off x="8102600" y="1778000"/>
            <a:ext cx="3505200" cy="19685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E5CCD3-82B4-5830-F373-92DFDED7B818}"/>
              </a:ext>
            </a:extLst>
          </p:cNvPr>
          <p:cNvSpPr txBox="1"/>
          <p:nvPr/>
        </p:nvSpPr>
        <p:spPr>
          <a:xfrm>
            <a:off x="8280400" y="1930400"/>
            <a:ext cx="31496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⏳ 개발 예정 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정보 연동 영역
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03. 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졸업요건 자가점검 개선
학번별 필수 이수학점 및 교직요건 자동 대조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7652A46-70EC-DCCD-E070-D8BD4D5CD10F}"/>
              </a:ext>
            </a:extLst>
          </p:cNvPr>
          <p:cNvSpPr/>
          <p:nvPr/>
        </p:nvSpPr>
        <p:spPr>
          <a:xfrm>
            <a:off x="635000" y="4000500"/>
            <a:ext cx="3505200" cy="19685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FA9EF7-7CD9-5B17-7FA9-EEE2EB3CB35E}"/>
              </a:ext>
            </a:extLst>
          </p:cNvPr>
          <p:cNvSpPr txBox="1"/>
          <p:nvPr/>
        </p:nvSpPr>
        <p:spPr>
          <a:xfrm>
            <a:off x="812800" y="4152900"/>
            <a:ext cx="31496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⏳ 개발 예정 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경험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네트워크 영역
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04. 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진로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복수전공 공유방
임용고시 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교육기업 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대학원 진로별 소통 공간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DB022A0-71F7-05FF-AD5D-E1203A297ABF}"/>
              </a:ext>
            </a:extLst>
          </p:cNvPr>
          <p:cNvSpPr/>
          <p:nvPr/>
        </p:nvSpPr>
        <p:spPr>
          <a:xfrm>
            <a:off x="4368800" y="4000500"/>
            <a:ext cx="3505200" cy="19685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2AE552-67D0-A606-B4DE-C62F32FF8C7C}"/>
              </a:ext>
            </a:extLst>
          </p:cNvPr>
          <p:cNvSpPr txBox="1"/>
          <p:nvPr/>
        </p:nvSpPr>
        <p:spPr>
          <a:xfrm>
            <a:off x="4546600" y="4152900"/>
            <a:ext cx="31496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⏳ 개발 예정 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경험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네트워크 영역
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05. 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졸업생 프로필 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멘토링
진출 분야별 동문 등록 및 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1:1 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가벼운 질문 창구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A9791E9-137D-F06C-F8D7-0A71DCF4F104}"/>
              </a:ext>
            </a:extLst>
          </p:cNvPr>
          <p:cNvSpPr/>
          <p:nvPr/>
        </p:nvSpPr>
        <p:spPr>
          <a:xfrm>
            <a:off x="8102600" y="4000500"/>
            <a:ext cx="3505200" cy="19685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CAC148-FD43-BE1B-38BD-A90DADFB782F}"/>
              </a:ext>
            </a:extLst>
          </p:cNvPr>
          <p:cNvSpPr txBox="1"/>
          <p:nvPr/>
        </p:nvSpPr>
        <p:spPr>
          <a:xfrm>
            <a:off x="8280400" y="4152900"/>
            <a:ext cx="31496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⏳ 개발 예정 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경험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네트워크 영역
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06. 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교수 상담 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지도교수 연결
온라인 면담 일정 예약 및 학업</a:t>
            </a:r>
            <a:r>
              <a:rPr lang="en-US" altLang="ko-KR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6366F1"/>
                </a:solidFill>
                <a:latin typeface="Malgun Gothic" panose="020B0503020000020004" pitchFamily="50" charset="-127"/>
              </a:rPr>
              <a:t>진로 지도 요청</a:t>
            </a:r>
          </a:p>
        </p:txBody>
      </p:sp>
    </p:spTree>
    <p:extLst>
      <p:ext uri="{BB962C8B-B14F-4D97-AF65-F5344CB8AC3E}">
        <p14:creationId xmlns:p14="http://schemas.microsoft.com/office/powerpoint/2010/main" val="799519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799A9A1-0172-D9BD-0700-F161734784D6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6B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BB4550F-AC4B-9EEF-C8F0-15EEF394FF34}"/>
              </a:ext>
            </a:extLst>
          </p:cNvPr>
          <p:cNvSpPr/>
          <p:nvPr/>
        </p:nvSpPr>
        <p:spPr>
          <a:xfrm>
            <a:off x="635000" y="279400"/>
            <a:ext cx="3556000" cy="330200"/>
          </a:xfrm>
          <a:prstGeom prst="roundRect">
            <a:avLst/>
          </a:prstGeom>
          <a:solidFill>
            <a:srgbClr val="2D190F"/>
          </a:solidFill>
          <a:ln w="1524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03 · CHALLENGES — 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예상 난제 및 해결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A4A12-53CB-404E-D9F7-1EFD8FEC7736}"/>
              </a:ext>
            </a:extLst>
          </p:cNvPr>
          <p:cNvSpPr txBox="1"/>
          <p:nvPr/>
        </p:nvSpPr>
        <p:spPr>
          <a:xfrm>
            <a:off x="584200" y="660400"/>
            <a:ext cx="10922000" cy="400110"/>
          </a:xfrm>
          <a:prstGeom prst="rect">
            <a:avLst/>
          </a:prstGeom>
          <a:noFill/>
        </p:spPr>
        <p:txBody>
          <a:bodyPr vert="horz" lIns="50800" tIns="0" rtlCol="0">
            <a:spAutoFit/>
          </a:bodyPr>
          <a:lstStyle/>
          <a:p>
            <a:r>
              <a:rPr lang="ko-KR" altLang="en-US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난제 ① 회원 인증 </a:t>
            </a:r>
            <a:r>
              <a:rPr lang="en-US" altLang="ko-KR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난제 ② 졸업생 참여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2D4553-8C46-6AE8-B1E3-FFB18D491443}"/>
              </a:ext>
            </a:extLst>
          </p:cNvPr>
          <p:cNvSpPr txBox="1"/>
          <p:nvPr/>
        </p:nvSpPr>
        <p:spPr>
          <a:xfrm>
            <a:off x="584200" y="1193800"/>
            <a:ext cx="10922000" cy="246221"/>
          </a:xfrm>
          <a:prstGeom prst="rect">
            <a:avLst/>
          </a:prstGeom>
          <a:noFill/>
        </p:spPr>
        <p:txBody>
          <a:bodyPr vert="horz" lIns="50800" tIns="0" rtlCol="0">
            <a:spAutoFit/>
          </a:bodyPr>
          <a:lstStyle/>
          <a:p>
            <a:r>
              <a:rPr lang="ko-KR" altLang="en-US" sz="1300">
                <a:solidFill>
                  <a:srgbClr val="94A3B8"/>
                </a:solidFill>
                <a:latin typeface="Malgun Gothic" panose="020B0503020000020004" pitchFamily="50" charset="-127"/>
              </a:rPr>
              <a:t>신뢰할 수 있는 학과 환경을 구축하고 지속적인 참여를 이끌어내기 위한 해결 전략입니다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F1C21E9-1400-F8D2-A561-12CC742891A2}"/>
              </a:ext>
            </a:extLst>
          </p:cNvPr>
          <p:cNvSpPr/>
          <p:nvPr/>
        </p:nvSpPr>
        <p:spPr>
          <a:xfrm>
            <a:off x="635000" y="1714500"/>
            <a:ext cx="5334000" cy="45085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88874-A093-C5EE-1702-400641926B05}"/>
              </a:ext>
            </a:extLst>
          </p:cNvPr>
          <p:cNvSpPr txBox="1"/>
          <p:nvPr/>
        </p:nvSpPr>
        <p:spPr>
          <a:xfrm>
            <a:off x="863600" y="1841500"/>
            <a:ext cx="4876800" cy="22929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CHALLENGE 01
① 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회원 인증의 정확성
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예상되는 문제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]
• 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실제 교육학과 구성원 검증의 어려움
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외부인 무단 가입 및 허위 정보 차단 필요
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해결 방향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]
✓ 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동국대 웹메일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(@dongguk.edu) 1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차 인증
✓ 관리자 소속 대조 승인 절차 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2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중 결합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780AA30-1687-6E18-DAD2-5435624A6A11}"/>
              </a:ext>
            </a:extLst>
          </p:cNvPr>
          <p:cNvSpPr/>
          <p:nvPr/>
        </p:nvSpPr>
        <p:spPr>
          <a:xfrm>
            <a:off x="6223000" y="1714500"/>
            <a:ext cx="5334000" cy="45085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2B923-9D6C-330D-ED8D-7F27EFF0557D}"/>
              </a:ext>
            </a:extLst>
          </p:cNvPr>
          <p:cNvSpPr txBox="1"/>
          <p:nvPr/>
        </p:nvSpPr>
        <p:spPr>
          <a:xfrm>
            <a:off x="6451600" y="1841500"/>
            <a:ext cx="4876800" cy="22929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CHALLENGE 02
② 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졸업생의 지속적인 참여
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예상되는 문제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]
• 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낮은 이용 동기와 긴 호흡 멘토링의 부담
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졸업 후 자연스러운 이탈 현상 발생
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해결 방향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]
✓ 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졸업 동문 전용 네트워킹 창구 제공
✓ 부담 없는 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문 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답 형태 간편 멘토링 도입</a:t>
            </a:r>
          </a:p>
        </p:txBody>
      </p:sp>
    </p:spTree>
    <p:extLst>
      <p:ext uri="{BB962C8B-B14F-4D97-AF65-F5344CB8AC3E}">
        <p14:creationId xmlns:p14="http://schemas.microsoft.com/office/powerpoint/2010/main" val="528086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09B91-82A2-C880-3878-EDFC274DBB0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6B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F43D3F8-A343-9B34-4B22-834EA16A7E9E}"/>
              </a:ext>
            </a:extLst>
          </p:cNvPr>
          <p:cNvSpPr/>
          <p:nvPr/>
        </p:nvSpPr>
        <p:spPr>
          <a:xfrm>
            <a:off x="635000" y="279400"/>
            <a:ext cx="3556000" cy="330200"/>
          </a:xfrm>
          <a:prstGeom prst="roundRect">
            <a:avLst/>
          </a:prstGeom>
          <a:solidFill>
            <a:srgbClr val="2D190F"/>
          </a:solidFill>
          <a:ln w="1524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03 · CHALLENGES — 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예상 난제 및 해결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8C6EB-ACC7-DBBE-17E7-A1EF9B4F0F14}"/>
              </a:ext>
            </a:extLst>
          </p:cNvPr>
          <p:cNvSpPr txBox="1"/>
          <p:nvPr/>
        </p:nvSpPr>
        <p:spPr>
          <a:xfrm>
            <a:off x="584200" y="660400"/>
            <a:ext cx="10922000" cy="400110"/>
          </a:xfrm>
          <a:prstGeom prst="rect">
            <a:avLst/>
          </a:prstGeom>
          <a:noFill/>
        </p:spPr>
        <p:txBody>
          <a:bodyPr vert="horz" lIns="50800" tIns="0" rtlCol="0">
            <a:spAutoFit/>
          </a:bodyPr>
          <a:lstStyle/>
          <a:p>
            <a:r>
              <a:rPr lang="ko-KR" altLang="en-US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난제 ③ 실시간 채팅 관리 </a:t>
            </a:r>
            <a:r>
              <a:rPr lang="en-US" altLang="ko-KR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난제 ④ 정보 정확성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E8F8D-B1ED-C63B-B1E7-5B60DD6B1FA5}"/>
              </a:ext>
            </a:extLst>
          </p:cNvPr>
          <p:cNvSpPr txBox="1"/>
          <p:nvPr/>
        </p:nvSpPr>
        <p:spPr>
          <a:xfrm>
            <a:off x="584200" y="1193800"/>
            <a:ext cx="10922000" cy="246221"/>
          </a:xfrm>
          <a:prstGeom prst="rect">
            <a:avLst/>
          </a:prstGeom>
          <a:noFill/>
        </p:spPr>
        <p:txBody>
          <a:bodyPr vert="horz" lIns="50800" tIns="0" rtlCol="0">
            <a:spAutoFit/>
          </a:bodyPr>
          <a:lstStyle/>
          <a:p>
            <a:r>
              <a:rPr lang="ko-KR" altLang="en-US" sz="1300">
                <a:solidFill>
                  <a:srgbClr val="94A3B8"/>
                </a:solidFill>
                <a:latin typeface="Malgun Gothic" panose="020B0503020000020004" pitchFamily="50" charset="-127"/>
              </a:rPr>
              <a:t>건전한 소통 문화를 유지하고 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50" charset="-127"/>
              </a:rPr>
              <a:t>AI </a:t>
            </a:r>
            <a:r>
              <a:rPr lang="ko-KR" altLang="en-US" sz="1300">
                <a:solidFill>
                  <a:srgbClr val="94A3B8"/>
                </a:solidFill>
                <a:latin typeface="Malgun Gothic" panose="020B0503020000020004" pitchFamily="50" charset="-127"/>
              </a:rPr>
              <a:t>개발 환경의 데이터 신뢰도를 확보합니다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7218568-53B9-2974-D7D3-C59284984AE5}"/>
              </a:ext>
            </a:extLst>
          </p:cNvPr>
          <p:cNvSpPr/>
          <p:nvPr/>
        </p:nvSpPr>
        <p:spPr>
          <a:xfrm>
            <a:off x="635000" y="1714500"/>
            <a:ext cx="5334000" cy="45085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EF9511-A527-46B4-A3CC-64C2B8E0F924}"/>
              </a:ext>
            </a:extLst>
          </p:cNvPr>
          <p:cNvSpPr txBox="1"/>
          <p:nvPr/>
        </p:nvSpPr>
        <p:spPr>
          <a:xfrm>
            <a:off x="863600" y="1841500"/>
            <a:ext cx="4876800" cy="22929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CHALLENGE 03
③ 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실시간 채팅 관리
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예상되는 문제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]
• 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부적절한 발언 및 개인정보 노출 우려
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• 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실시간 소통 환경에서의 분쟁 가능성
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해결 방향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]
✓ 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부적절 사용자 신고 및 즉각 차단 시스템
✓ 커뮤니티 운영 기준 및 자율 정화 가이드라인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CACBB49-D0BF-9E5F-12FB-0C1BDAAF835A}"/>
              </a:ext>
            </a:extLst>
          </p:cNvPr>
          <p:cNvSpPr/>
          <p:nvPr/>
        </p:nvSpPr>
        <p:spPr>
          <a:xfrm>
            <a:off x="6223000" y="1714500"/>
            <a:ext cx="5334000" cy="45085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8FEE34-0B1B-3EEC-34C7-D51F320AE21B}"/>
              </a:ext>
            </a:extLst>
          </p:cNvPr>
          <p:cNvSpPr txBox="1"/>
          <p:nvPr/>
        </p:nvSpPr>
        <p:spPr>
          <a:xfrm>
            <a:off x="6451600" y="1841500"/>
            <a:ext cx="4876800" cy="22929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CHALLENGE 04
④ 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정보 정확성과 유지보수
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예상되는 문제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]
• 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학번별 상이한 졸업요건 및 학사 변동
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• AI 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개발 과정에서의 데이터 환각 및 오류
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해결 방향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]
✓ 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학과 공식 편람</a:t>
            </a:r>
            <a:r>
              <a:rPr lang="en-US" altLang="ko-KR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F59E0B"/>
                </a:solidFill>
                <a:latin typeface="Malgun Gothic" panose="020B0503020000020004" pitchFamily="50" charset="-127"/>
              </a:rPr>
              <a:t>학사팀 공지 데이터 기준화
✓ 학기별 반복 검증 및 관리자 직접 확인</a:t>
            </a:r>
          </a:p>
        </p:txBody>
      </p:sp>
    </p:spTree>
    <p:extLst>
      <p:ext uri="{BB962C8B-B14F-4D97-AF65-F5344CB8AC3E}">
        <p14:creationId xmlns:p14="http://schemas.microsoft.com/office/powerpoint/2010/main" val="1441587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EDB85F3-CAAE-95B6-5E80-6C8261AAD430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6B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AA55331-A635-1569-185B-D09525DE6EE1}"/>
              </a:ext>
            </a:extLst>
          </p:cNvPr>
          <p:cNvSpPr/>
          <p:nvPr/>
        </p:nvSpPr>
        <p:spPr>
          <a:xfrm>
            <a:off x="635000" y="279400"/>
            <a:ext cx="3556000" cy="330200"/>
          </a:xfrm>
          <a:prstGeom prst="roundRect">
            <a:avLst/>
          </a:prstGeom>
          <a:solidFill>
            <a:srgbClr val="2D190F"/>
          </a:solidFill>
          <a:ln w="1524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04 · VISION — </a:t>
            </a:r>
            <a:r>
              <a:rPr lang="ko-KR" altLang="en-US" sz="1100" b="1">
                <a:solidFill>
                  <a:srgbClr val="FFA040"/>
                </a:solidFill>
                <a:latin typeface="Malgun Gothic" panose="020B0503020000020004" pitchFamily="50" charset="-127"/>
              </a:rPr>
              <a:t>미래 방향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C392D-B76E-2074-3EBB-C74CF3FA5F0F}"/>
              </a:ext>
            </a:extLst>
          </p:cNvPr>
          <p:cNvSpPr txBox="1"/>
          <p:nvPr/>
        </p:nvSpPr>
        <p:spPr>
          <a:xfrm>
            <a:off x="584200" y="660400"/>
            <a:ext cx="10922000" cy="400110"/>
          </a:xfrm>
          <a:prstGeom prst="rect">
            <a:avLst/>
          </a:prstGeom>
          <a:noFill/>
        </p:spPr>
        <p:txBody>
          <a:bodyPr vert="horz" lIns="50800" tIns="0" rtlCol="0">
            <a:spAutoFit/>
          </a:bodyPr>
          <a:lstStyle/>
          <a:p>
            <a:r>
              <a:rPr lang="ko-KR" altLang="en-US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교육학과의 </a:t>
            </a:r>
            <a:r>
              <a:rPr lang="en-US" altLang="ko-KR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6</a:t>
            </a:r>
            <a:r>
              <a:rPr lang="ko-KR" altLang="en-US" sz="2300" b="1">
                <a:solidFill>
                  <a:srgbClr val="FFFFFF"/>
                </a:solidFill>
                <a:latin typeface="Malgun Gothic" panose="020B0503020000020004" pitchFamily="50" charset="-127"/>
              </a:rPr>
              <a:t>대 요소가 하나의 네트워크로 연결됩니다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08BC4A-C3D6-FA37-3602-5572094F409B}"/>
              </a:ext>
            </a:extLst>
          </p:cNvPr>
          <p:cNvSpPr txBox="1"/>
          <p:nvPr/>
        </p:nvSpPr>
        <p:spPr>
          <a:xfrm>
            <a:off x="584200" y="1193800"/>
            <a:ext cx="10922000" cy="246221"/>
          </a:xfrm>
          <a:prstGeom prst="rect">
            <a:avLst/>
          </a:prstGeom>
          <a:noFill/>
        </p:spPr>
        <p:txBody>
          <a:bodyPr vert="horz" lIns="50800" tIns="0" rtlCol="0">
            <a:spAutoFit/>
          </a:bodyPr>
          <a:lstStyle/>
          <a:p>
            <a:r>
              <a:rPr lang="ko-KR" altLang="en-US" sz="1300">
                <a:solidFill>
                  <a:srgbClr val="94A3B8"/>
                </a:solidFill>
                <a:latin typeface="Malgun Gothic" panose="020B0503020000020004" pitchFamily="50" charset="-127"/>
              </a:rPr>
              <a:t>흩어져 있던 모든 구성원과 자산이 동국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50" charset="-127"/>
              </a:rPr>
              <a:t>e</a:t>
            </a:r>
            <a:r>
              <a:rPr lang="ko-KR" altLang="en-US" sz="1300">
                <a:solidFill>
                  <a:srgbClr val="94A3B8"/>
                </a:solidFill>
                <a:latin typeface="Malgun Gothic" panose="020B0503020000020004" pitchFamily="50" charset="-127"/>
              </a:rPr>
              <a:t>음을 중심으로 유기적으로 연결됩니다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5561A48-51DA-785A-0706-34FEDE6A9105}"/>
              </a:ext>
            </a:extLst>
          </p:cNvPr>
          <p:cNvSpPr/>
          <p:nvPr/>
        </p:nvSpPr>
        <p:spPr>
          <a:xfrm>
            <a:off x="635000" y="1778000"/>
            <a:ext cx="3505200" cy="17145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0DDD63-FC2F-A089-5D21-EFFE6BA7F7A7}"/>
              </a:ext>
            </a:extLst>
          </p:cNvPr>
          <p:cNvSpPr txBox="1"/>
          <p:nvPr/>
        </p:nvSpPr>
        <p:spPr>
          <a:xfrm>
            <a:off x="812800" y="1981200"/>
            <a:ext cx="31496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NODE 01
</a:t>
            </a:r>
            <a:r>
              <a:rPr lang="ko-KR" altLang="en-US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학교</a:t>
            </a:r>
            <a:r>
              <a:rPr lang="en-US" altLang="ko-KR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학과 정보
공지 </a:t>
            </a:r>
            <a:r>
              <a:rPr lang="en-US" altLang="ko-KR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학사일정 </a:t>
            </a:r>
            <a:r>
              <a:rPr lang="en-US" altLang="ko-KR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졸업요건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957798C-C697-00DF-E34F-24B69EE5BE12}"/>
              </a:ext>
            </a:extLst>
          </p:cNvPr>
          <p:cNvSpPr/>
          <p:nvPr/>
        </p:nvSpPr>
        <p:spPr>
          <a:xfrm>
            <a:off x="4368800" y="1778000"/>
            <a:ext cx="3505200" cy="17145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040ABC-5A42-7900-3731-CAB9E7299F62}"/>
              </a:ext>
            </a:extLst>
          </p:cNvPr>
          <p:cNvSpPr txBox="1"/>
          <p:nvPr/>
        </p:nvSpPr>
        <p:spPr>
          <a:xfrm>
            <a:off x="4546600" y="1981200"/>
            <a:ext cx="31496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NODE 02
</a:t>
            </a:r>
            <a:r>
              <a:rPr lang="ko-KR" altLang="en-US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재학생
신입생 </a:t>
            </a:r>
            <a:r>
              <a:rPr lang="en-US" altLang="ko-KR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복학생 </a:t>
            </a:r>
            <a:r>
              <a:rPr lang="en-US" altLang="ko-KR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편입생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BAADCD6-4FF9-1260-5EA6-7E26AE55877A}"/>
              </a:ext>
            </a:extLst>
          </p:cNvPr>
          <p:cNvSpPr/>
          <p:nvPr/>
        </p:nvSpPr>
        <p:spPr>
          <a:xfrm>
            <a:off x="8102600" y="1778000"/>
            <a:ext cx="3505200" cy="17145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D1A870-5216-23E2-AEBC-2EEA04FA1501}"/>
              </a:ext>
            </a:extLst>
          </p:cNvPr>
          <p:cNvSpPr txBox="1"/>
          <p:nvPr/>
        </p:nvSpPr>
        <p:spPr>
          <a:xfrm>
            <a:off x="8280400" y="1981200"/>
            <a:ext cx="31496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NODE 03
</a:t>
            </a:r>
            <a:r>
              <a:rPr lang="ko-KR" altLang="en-US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졸업생
임용 </a:t>
            </a:r>
            <a:r>
              <a:rPr lang="en-US" altLang="ko-KR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기업 </a:t>
            </a:r>
            <a:r>
              <a:rPr lang="en-US" altLang="ko-KR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대학원 동문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2E27788-12E1-9745-99C0-BEB49A0FBDB6}"/>
              </a:ext>
            </a:extLst>
          </p:cNvPr>
          <p:cNvSpPr/>
          <p:nvPr/>
        </p:nvSpPr>
        <p:spPr>
          <a:xfrm>
            <a:off x="635000" y="3683000"/>
            <a:ext cx="3505200" cy="17145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EA4859-9706-1419-4E76-17E3C6BDAF71}"/>
              </a:ext>
            </a:extLst>
          </p:cNvPr>
          <p:cNvSpPr txBox="1"/>
          <p:nvPr/>
        </p:nvSpPr>
        <p:spPr>
          <a:xfrm>
            <a:off x="812800" y="3886200"/>
            <a:ext cx="31496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NODE 04
</a:t>
            </a:r>
            <a:r>
              <a:rPr lang="ko-KR" altLang="en-US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교수
전공 지도교수 </a:t>
            </a:r>
            <a:r>
              <a:rPr lang="en-US" altLang="ko-KR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면담 연결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EA276A3-AAFC-9F2C-AB4F-89C306082B0C}"/>
              </a:ext>
            </a:extLst>
          </p:cNvPr>
          <p:cNvSpPr/>
          <p:nvPr/>
        </p:nvSpPr>
        <p:spPr>
          <a:xfrm>
            <a:off x="4368800" y="3683000"/>
            <a:ext cx="3505200" cy="17145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97C9AA-7B91-E7FE-D5F1-5818702C8B17}"/>
              </a:ext>
            </a:extLst>
          </p:cNvPr>
          <p:cNvSpPr txBox="1"/>
          <p:nvPr/>
        </p:nvSpPr>
        <p:spPr>
          <a:xfrm>
            <a:off x="4546600" y="3886200"/>
            <a:ext cx="31496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NODE 05
</a:t>
            </a:r>
            <a:r>
              <a:rPr lang="ko-KR" altLang="en-US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학습 경험
수강 후기 </a:t>
            </a:r>
            <a:r>
              <a:rPr lang="en-US" altLang="ko-KR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과목 로드맵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1AF73EC-F4D0-C660-1F2A-BC88C84721CD}"/>
              </a:ext>
            </a:extLst>
          </p:cNvPr>
          <p:cNvSpPr/>
          <p:nvPr/>
        </p:nvSpPr>
        <p:spPr>
          <a:xfrm>
            <a:off x="8102600" y="3683000"/>
            <a:ext cx="3505200" cy="1714500"/>
          </a:xfrm>
          <a:prstGeom prst="roundRect">
            <a:avLst/>
          </a:prstGeom>
          <a:solidFill>
            <a:srgbClr val="151F32"/>
          </a:solidFill>
          <a:ln w="2540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5D1034-B5EA-B5E0-E644-E9778712ACC8}"/>
              </a:ext>
            </a:extLst>
          </p:cNvPr>
          <p:cNvSpPr txBox="1"/>
          <p:nvPr/>
        </p:nvSpPr>
        <p:spPr>
          <a:xfrm>
            <a:off x="8280400" y="3886200"/>
            <a:ext cx="31496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NODE 06
</a:t>
            </a:r>
            <a:r>
              <a:rPr lang="ko-KR" altLang="en-US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진로 정보
취업 팁 </a:t>
            </a:r>
            <a:r>
              <a:rPr lang="en-US" altLang="ko-KR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FFA040"/>
                </a:solidFill>
                <a:latin typeface="Malgun Gothic" panose="020B0503020000020004" pitchFamily="50" charset="-127"/>
              </a:rPr>
              <a:t>멘토링 질의응답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3653F0B-0A9F-011F-0A52-FE9D5E65F60A}"/>
              </a:ext>
            </a:extLst>
          </p:cNvPr>
          <p:cNvSpPr/>
          <p:nvPr/>
        </p:nvSpPr>
        <p:spPr>
          <a:xfrm>
            <a:off x="635000" y="5651500"/>
            <a:ext cx="10922000" cy="609600"/>
          </a:xfrm>
          <a:prstGeom prst="roundRect">
            <a:avLst/>
          </a:prstGeom>
          <a:solidFill>
            <a:srgbClr val="2D190F"/>
          </a:solidFill>
          <a:ln w="2540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F6E49E-6F2F-3C09-4481-3557658942C4}"/>
              </a:ext>
            </a:extLst>
          </p:cNvPr>
          <p:cNvSpPr txBox="1"/>
          <p:nvPr/>
        </p:nvSpPr>
        <p:spPr>
          <a:xfrm>
            <a:off x="762000" y="5740400"/>
            <a:ext cx="10668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FFA040"/>
                </a:solidFill>
                <a:latin typeface="Malgun Gothic" panose="020B0503020000020004" pitchFamily="50" charset="-127"/>
              </a:rPr>
              <a:t>🔗 동국</a:t>
            </a:r>
            <a:r>
              <a:rPr lang="en-US" altLang="ko-KR" sz="1500" b="1">
                <a:solidFill>
                  <a:srgbClr val="FFA040"/>
                </a:solidFill>
                <a:latin typeface="Malgun Gothic" panose="020B0503020000020004" pitchFamily="50" charset="-127"/>
              </a:rPr>
              <a:t>e</a:t>
            </a:r>
            <a:r>
              <a:rPr lang="ko-KR" altLang="en-US" sz="1500" b="1">
                <a:solidFill>
                  <a:srgbClr val="FFA040"/>
                </a:solidFill>
                <a:latin typeface="Malgun Gothic" panose="020B0503020000020004" pitchFamily="50" charset="-127"/>
              </a:rPr>
              <a:t>음 네트워크 허브를 통해 모든 요소가 실시간으로 순환합니다</a:t>
            </a:r>
          </a:p>
        </p:txBody>
      </p:sp>
    </p:spTree>
    <p:extLst>
      <p:ext uri="{BB962C8B-B14F-4D97-AF65-F5344CB8AC3E}">
        <p14:creationId xmlns:p14="http://schemas.microsoft.com/office/powerpoint/2010/main" val="754261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779E870-E110-20D2-7EEB-ECEB379BD8C7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FF6B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E96A2AB-ED9F-7249-9B5B-2348F7CE4F82}"/>
              </a:ext>
            </a:extLst>
          </p:cNvPr>
          <p:cNvSpPr/>
          <p:nvPr/>
        </p:nvSpPr>
        <p:spPr>
          <a:xfrm>
            <a:off x="4572000" y="1016000"/>
            <a:ext cx="3048000" cy="406400"/>
          </a:xfrm>
          <a:prstGeom prst="roundRect">
            <a:avLst/>
          </a:prstGeom>
          <a:solidFill>
            <a:srgbClr val="2D190F"/>
          </a:solidFill>
          <a:ln w="1524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rgbClr val="FFA040"/>
                </a:solidFill>
                <a:latin typeface="Malgun Gothic" panose="020B0503020000020004" pitchFamily="50" charset="-127"/>
              </a:rPr>
              <a:t>동국대학교 교육학과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0B498A-C847-8305-B4F6-8AECCFB21DEA}"/>
              </a:ext>
            </a:extLst>
          </p:cNvPr>
          <p:cNvSpPr txBox="1"/>
          <p:nvPr/>
        </p:nvSpPr>
        <p:spPr>
          <a:xfrm>
            <a:off x="1270000" y="1778000"/>
            <a:ext cx="965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ko-KR" altLang="en-US" sz="2200">
                <a:solidFill>
                  <a:srgbClr val="94A3B8"/>
                </a:solidFill>
                <a:latin typeface="Malgun Gothic" panose="020B0503020000020004" pitchFamily="50" charset="-127"/>
              </a:rPr>
              <a:t>정보를 잇고</a:t>
            </a:r>
            <a:r>
              <a:rPr lang="en-US" altLang="ko-KR" sz="2200">
                <a:solidFill>
                  <a:srgbClr val="94A3B8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200">
                <a:solidFill>
                  <a:srgbClr val="94A3B8"/>
                </a:solidFill>
                <a:latin typeface="Malgun Gothic" panose="020B0503020000020004" pitchFamily="50" charset="-127"/>
              </a:rPr>
              <a:t>경험을 나누고</a:t>
            </a:r>
            <a:r>
              <a:rPr lang="en-US" altLang="ko-KR" sz="2200">
                <a:solidFill>
                  <a:srgbClr val="94A3B8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200">
                <a:solidFill>
                  <a:srgbClr val="94A3B8"/>
                </a:solidFill>
                <a:latin typeface="Malgun Gothic" panose="020B0503020000020004" pitchFamily="50" charset="-127"/>
              </a:rPr>
              <a:t>사람을 연결하다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5F0FD-3029-0E47-3DC7-7EA5687556A3}"/>
              </a:ext>
            </a:extLst>
          </p:cNvPr>
          <p:cNvSpPr txBox="1"/>
          <p:nvPr/>
        </p:nvSpPr>
        <p:spPr>
          <a:xfrm>
            <a:off x="1016000" y="2540000"/>
            <a:ext cx="1016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ko-KR" altLang="en-US" sz="3000" b="1">
                <a:solidFill>
                  <a:srgbClr val="FF6B00"/>
                </a:solidFill>
                <a:latin typeface="Malgun Gothic" panose="020B0503020000020004" pitchFamily="50" charset="-127"/>
              </a:rPr>
              <a:t>“선배의 경험이 후배의 자산이 되는 공간</a:t>
            </a:r>
            <a:r>
              <a:rPr lang="en-US" altLang="ko-KR" sz="3000" b="1">
                <a:solidFill>
                  <a:srgbClr val="FF6B00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3000" b="1">
                <a:solidFill>
                  <a:srgbClr val="FF6B00"/>
                </a:solidFill>
                <a:latin typeface="Malgun Gothic" panose="020B0503020000020004" pitchFamily="50" charset="-127"/>
              </a:rPr>
              <a:t>동국</a:t>
            </a:r>
            <a:r>
              <a:rPr lang="en-US" altLang="ko-KR" sz="3000" b="1">
                <a:solidFill>
                  <a:srgbClr val="FF6B00"/>
                </a:solidFill>
                <a:latin typeface="Malgun Gothic" panose="020B0503020000020004" pitchFamily="50" charset="-127"/>
              </a:rPr>
              <a:t>e</a:t>
            </a:r>
            <a:r>
              <a:rPr lang="ko-KR" altLang="en-US" sz="3000" b="1">
                <a:solidFill>
                  <a:srgbClr val="FF6B00"/>
                </a:solidFill>
                <a:latin typeface="Malgun Gothic" panose="020B0503020000020004" pitchFamily="50" charset="-127"/>
              </a:rPr>
              <a:t>음”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7D145B6-5D5A-0FDC-1254-29E2E7D7B028}"/>
              </a:ext>
            </a:extLst>
          </p:cNvPr>
          <p:cNvSpPr/>
          <p:nvPr/>
        </p:nvSpPr>
        <p:spPr>
          <a:xfrm>
            <a:off x="2540000" y="3937000"/>
            <a:ext cx="7112000" cy="139700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283A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062C4D-D1B3-4E60-53BC-B5074DE6A9BE}"/>
              </a:ext>
            </a:extLst>
          </p:cNvPr>
          <p:cNvSpPr txBox="1"/>
          <p:nvPr/>
        </p:nvSpPr>
        <p:spPr>
          <a:xfrm>
            <a:off x="2667000" y="4127500"/>
            <a:ext cx="6858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발표자</a:t>
            </a:r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동국대학교 교육학과 프로젝트팀
감사합니다 </a:t>
            </a:r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· Q&amp;A</a:t>
            </a:r>
            <a:endParaRPr lang="ko-KR" altLang="en-US" sz="16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0756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1317</Words>
  <Application>Microsoft Office PowerPoint</Application>
  <PresentationFormat>사용자 지정</PresentationFormat>
  <Paragraphs>72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이혜원/교육학과(2023112601)</dc:creator>
  <cp:lastModifiedBy>이혜원/교육학과(2023112601)</cp:lastModifiedBy>
  <cp:revision>1</cp:revision>
  <dcterms:created xsi:type="dcterms:W3CDTF">2026-10-28T16:30:29Z</dcterms:created>
  <dcterms:modified xsi:type="dcterms:W3CDTF">2026-10-28T16:30:29Z</dcterms:modified>
</cp:coreProperties>
</file>